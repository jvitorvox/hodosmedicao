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2926080" cy="2926080"/>
          </a:xfrm>
          <a:prstGeom prst="ellipse">
            <a:avLst/>
          </a:prstGeom>
          <a:solidFill>
            <a:srgbClr val="F5820A">
              <a:alpha val="22000"/>
            </a:srgbClr>
          </a:solidFill>
          <a:ln w="12700">
            <a:solidFill>
              <a:srgbClr val="F5820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822960"/>
            <a:ext cx="1097280" cy="1097280"/>
          </a:xfrm>
          <a:prstGeom prst="ellipse">
            <a:avLst/>
          </a:prstGeom>
          <a:solidFill>
            <a:srgbClr val="F5820A">
              <a:alpha val="40000"/>
            </a:srgbClr>
          </a:solidFill>
          <a:ln w="12700">
            <a:solidFill>
              <a:srgbClr val="F5820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4023360"/>
            <a:ext cx="1463040" cy="1463040"/>
          </a:xfrm>
          <a:prstGeom prst="ellipse">
            <a:avLst/>
          </a:prstGeom>
          <a:solidFill>
            <a:srgbClr val="F5820A">
              <a:alpha val="18000"/>
            </a:srgbClr>
          </a:solidFill>
          <a:ln w="12700">
            <a:solidFill>
              <a:srgbClr val="F5820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82296" cy="173736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Construtivo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Inteligente de Medições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Pagamentos de Obra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gestores que precisam de controle real — do lançamento ao pagamento.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construtivo.ai  ·  Simplificando a gestão de obras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gere obras sabe como é difícil...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72768"/>
            <a:ext cx="265176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55648"/>
            <a:ext cx="594360" cy="59436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6537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manuais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Planilhas, papel e e-mail. Erros acumulam, histórico se perde e o retrabalho consome horas que você não tem.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572768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572768"/>
            <a:ext cx="265176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755648"/>
            <a:ext cx="594360" cy="59436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86537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lentas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29000" y="292608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ou semanas esperando assinatura de alguém. Enquanto isso, fornecedor pressiona e fluxo de caixa sofre.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572768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572768"/>
            <a:ext cx="265176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755648"/>
            <a:ext cx="594360" cy="59436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86537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visibilidade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17920" y="292608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não sabe o status da medição. Ligações, cobranças e desgaste no relacionamento viram rotina.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31920" cy="73152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3474720"/>
            <a:ext cx="2560320" cy="256032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Solução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completa para digitalizar a gestão de medições e aprovações — do lançamento ao pagamento, com total rastreabilidade.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51960" y="3474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com o Construtivo AI: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932688"/>
            <a:ext cx="470916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932688"/>
            <a:ext cx="73152" cy="111556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120700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83480" y="1042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 início ao fim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14538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criadas, aprovadas e assinadas no sistema. Sem papel, sem planilha, sem retrabalho.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60520" y="2231136"/>
            <a:ext cx="470916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2231136"/>
            <a:ext cx="73152" cy="111556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505456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83480" y="23408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em múltiplos níveis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83480" y="2752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N1, N2 e N3 com notificações automáticas por WhatsApp. Cada alçada no momento certo.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160520" y="3529584"/>
            <a:ext cx="470916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60520" y="3529584"/>
            <a:ext cx="73152" cy="111556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803904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83480" y="3639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exclusivo do fornecedor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983480" y="4050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parceiro acessa o status e envia a NF pelo link — sem precisar ligar ou enviar e-mail.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Tudo que o gestor precisa em um só lugar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7693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6733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Digitais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Adiantamento e Avanço Físico. Crie em minutos com os itens do contrato já carregados.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5087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7288" y="169164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17693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6733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47288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N1, N2 e N3 com notificações automáticas. Cada aprovador recebe o alerta no momento certo.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1508760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169164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76936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76288" y="16733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54496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D4Sign e ClickSign. Documento com validade jurídica, sem precisar imprimir.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236976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419856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34975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4015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Fornecedor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396849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link seguro. O fornecedor vê o status e envia a NF diretamente pelo sistema.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64408" y="3236976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47288" y="3419856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012" y="349758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4015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E-mail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47288" y="396849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para aprovadores e fornecedores. Zero mensagem esquecida.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71616" y="3236976"/>
            <a:ext cx="26517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54496" y="3419856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49758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76288" y="34015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54496" y="396849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aprovações, datas, valores e documentos. Auditoria quando precisar.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lançamento ao pagamento — sem perder o controle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3796" y="1554480"/>
            <a:ext cx="658368" cy="658368"/>
          </a:xfrm>
          <a:prstGeom prst="ellipse">
            <a:avLst/>
          </a:prstGeom>
          <a:solidFill>
            <a:srgbClr val="2D5185"/>
          </a:solidFill>
          <a:ln w="25400">
            <a:solidFill>
              <a:srgbClr val="4A7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00200" y="1883664"/>
            <a:ext cx="201168" cy="0"/>
          </a:xfrm>
          <a:prstGeom prst="line">
            <a:avLst/>
          </a:prstGeom>
          <a:noFill/>
          <a:ln w="19050">
            <a:solidFill>
              <a:srgbClr val="F5820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lança itens e valores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89404" y="1554480"/>
            <a:ext cx="658368" cy="658368"/>
          </a:xfrm>
          <a:prstGeom prst="ellipse">
            <a:avLst/>
          </a:prstGeom>
          <a:solidFill>
            <a:srgbClr val="2D5185"/>
          </a:solidFill>
          <a:ln w="25400">
            <a:solidFill>
              <a:srgbClr val="4A7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9404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35808" y="1883664"/>
            <a:ext cx="201168" cy="0"/>
          </a:xfrm>
          <a:prstGeom prst="line">
            <a:avLst/>
          </a:prstGeom>
          <a:noFill/>
          <a:ln w="19050">
            <a:solidFill>
              <a:srgbClr val="F5820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01368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N1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09928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alçada valida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5012" y="1554480"/>
            <a:ext cx="658368" cy="658368"/>
          </a:xfrm>
          <a:prstGeom prst="ellipse">
            <a:avLst/>
          </a:prstGeom>
          <a:solidFill>
            <a:srgbClr val="2D5185"/>
          </a:solidFill>
          <a:ln w="25400">
            <a:solidFill>
              <a:srgbClr val="4A7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71416" y="1883664"/>
            <a:ext cx="201168" cy="0"/>
          </a:xfrm>
          <a:prstGeom prst="line">
            <a:avLst/>
          </a:prstGeom>
          <a:noFill/>
          <a:ln w="19050">
            <a:solidFill>
              <a:srgbClr val="F5820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236976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N2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45536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alçada aprova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0620" y="1554480"/>
            <a:ext cx="658368" cy="658368"/>
          </a:xfrm>
          <a:prstGeom prst="ellipse">
            <a:avLst/>
          </a:prstGeom>
          <a:solidFill>
            <a:srgbClr val="2D5185"/>
          </a:solidFill>
          <a:ln w="25400">
            <a:solidFill>
              <a:srgbClr val="4A7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062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07024" y="1883664"/>
            <a:ext cx="201168" cy="0"/>
          </a:xfrm>
          <a:prstGeom prst="line">
            <a:avLst/>
          </a:prstGeom>
          <a:noFill/>
          <a:ln w="19050">
            <a:solidFill>
              <a:srgbClr val="F5820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672584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N3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81144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libera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96228" y="1554480"/>
            <a:ext cx="658368" cy="658368"/>
          </a:xfrm>
          <a:prstGeom prst="ellipse">
            <a:avLst/>
          </a:prstGeom>
          <a:solidFill>
            <a:srgbClr val="2D5185"/>
          </a:solidFill>
          <a:ln w="25400">
            <a:solidFill>
              <a:srgbClr val="4A7B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6228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42632" y="1883664"/>
            <a:ext cx="201168" cy="0"/>
          </a:xfrm>
          <a:prstGeom prst="line">
            <a:avLst/>
          </a:prstGeom>
          <a:noFill/>
          <a:ln w="19050">
            <a:solidFill>
              <a:srgbClr val="F5820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108192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16752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31836" y="1554480"/>
            <a:ext cx="658368" cy="658368"/>
          </a:xfrm>
          <a:prstGeom prst="ellipse">
            <a:avLst/>
          </a:prstGeom>
          <a:solidFill>
            <a:srgbClr val="F5820A"/>
          </a:solidFill>
          <a:ln w="25400">
            <a:solidFill>
              <a:srgbClr val="F58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31836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43800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2724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emitida e paga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291840"/>
            <a:ext cx="26060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410712"/>
            <a:ext cx="411480" cy="411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52728" y="33649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automática por WhatsApp em cada etapa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355848" y="3291840"/>
            <a:ext cx="26060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3410712"/>
            <a:ext cx="411480" cy="41148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105656" y="33649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configurável por alçada de aprovação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208776" y="3291840"/>
            <a:ext cx="26060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3410712"/>
            <a:ext cx="411480" cy="4114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58584" y="33649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aprovações e datas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FORNECEDOR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fornecedor no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 total da NF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084832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ligações, sem e-mails perdidos. O Portal do Fornecedor do Construtivo AI dá acesso seguro ao status de cada medição e permite o envio da Nota Fiscal direto no sistema.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584448"/>
            <a:ext cx="192024" cy="192024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7530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link único e seguro — sem senha para gerenciar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867912"/>
            <a:ext cx="192024" cy="192024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3831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progresso financeiro e físico do contrato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151376"/>
            <a:ext cx="192024" cy="192024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422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 Nota Fiscal diretamente no portal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192024" cy="192024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2569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4398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orientações automáticas por e-mail após aprovação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18304"/>
            <a:ext cx="192024" cy="192024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4681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status do pagamento em tempo real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777240"/>
            <a:ext cx="3794760" cy="40690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777240"/>
            <a:ext cx="379476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7955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Fornecedor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444752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499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0" y="14996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MED-2604-728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1920240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975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0" y="19751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2395728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32320" y="24505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20640" y="2871216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0" y="29260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R$ 45.000,00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3346704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401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Financeiro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3232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0" y="3822192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8770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Físico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32320" y="38770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4297680"/>
            <a:ext cx="3474720" cy="41148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4297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Nota Fiscal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muda quando você usa o Construtivo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5176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9436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histórico de aprovações, datas, usuários e documentos — disponível a qualquer momento, sem depender de e-mail.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65176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642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Dias → Horas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aprovações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0175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e fluxo digital eliminam a espera por e-mail e assinatura física. Decisão mais rápida, obra andando.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5176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508760"/>
            <a:ext cx="265176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642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 do fornecedor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Portal dá visibilidade total. O parceiro sabe o status e envia a NF sem precisar ligar para o seu escritório.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820A">
              <a:alpha val="12000"/>
            </a:srgbClr>
          </a:solidFill>
          <a:ln w="12700">
            <a:solidFill>
              <a:srgbClr val="F5820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que lê, interpreta 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 pela sua obra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Construtivo AI vai além do fluxo de aprovação. A plataforma conta com recursos 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para automatizar leitura de documentos e interação em linguagem natural.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1920240" cy="2240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16352"/>
            <a:ext cx="1920240" cy="54864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907792"/>
            <a:ext cx="502920" cy="502920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97637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349300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Nota Fiscal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39776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extrai automaticamente dados da NF — número, valor, chave de acesso — e cruza com a medição correspondente, eliminando conferência manual.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32888" y="2816352"/>
            <a:ext cx="1920240" cy="2240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32888" y="2816352"/>
            <a:ext cx="1920240" cy="54864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2907792"/>
            <a:ext cx="502920" cy="502920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297637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42616" y="349300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Documentos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642616" y="39776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medições e evidências são lidos e interpretados pela IA. Alertas automáticos ao detectar inconsistências ou divergências de valores.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08576" y="2816352"/>
            <a:ext cx="1920240" cy="2240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08576" y="2816352"/>
            <a:ext cx="1920240" cy="54864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73168" y="2907792"/>
            <a:ext cx="502920" cy="502920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297637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18304" y="349300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Interativo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718304" y="39776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em linguagem natural com o sistema: 'Qual o saldo do contrato 186?' ou 'Quais medições estão pendentes?'. Respostas em segundos.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684264" y="2816352"/>
            <a:ext cx="1920240" cy="2240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84264" y="2816352"/>
            <a:ext cx="1920240" cy="54864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48856" y="2907792"/>
            <a:ext cx="502920" cy="502920"/>
          </a:xfrm>
          <a:prstGeom prst="ellipse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976372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93992" y="349300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793992" y="39776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padrões de atraso, desvios de orçamento e fornecedores com histórico de inconsistência antes que virem problema.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PROGRESSO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Gantt e LBM integrados ao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progresso real das medições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progresso físico e financeiro das medições aprovadas alimenta automaticamente o Gantt e o Linha de Balanço (LBM), dando ao gestor uma visão completa e atualizada do avanço real da obra.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9776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51760"/>
            <a:ext cx="3977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do Contrato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821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64208" y="3236976"/>
            <a:ext cx="2286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3236976"/>
            <a:ext cx="2286000" cy="20116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31821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64208" y="3666744"/>
            <a:ext cx="2286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4208" y="3666744"/>
            <a:ext cx="1714500" cy="20116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3611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Alvenaria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64208" y="4096512"/>
            <a:ext cx="2286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4208" y="4096512"/>
            <a:ext cx="914400" cy="201168"/>
          </a:xfrm>
          <a:prstGeom prst="rect">
            <a:avLst/>
          </a:prstGeom>
          <a:solidFill>
            <a:srgbClr val="2D5185"/>
          </a:solidFill>
          <a:ln w="12700">
            <a:solidFill>
              <a:srgbClr val="2D5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40416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47141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64208" y="4526280"/>
            <a:ext cx="2286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4208" y="4526280"/>
            <a:ext cx="228600" cy="201168"/>
          </a:xfrm>
          <a:prstGeom prst="rect">
            <a:avLst/>
          </a:prstGeom>
          <a:solidFill>
            <a:srgbClr val="2D5185"/>
          </a:solidFill>
          <a:ln w="12700">
            <a:solidFill>
              <a:srgbClr val="2D5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44714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651760"/>
            <a:ext cx="39776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651760"/>
            <a:ext cx="3977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Balanço (LBM)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13639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58968" y="3136392"/>
            <a:ext cx="658368" cy="347472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968" y="31363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52044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58968" y="3520440"/>
            <a:ext cx="658368" cy="347472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35204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53912" y="3520440"/>
            <a:ext cx="658368" cy="347472"/>
          </a:xfrm>
          <a:prstGeom prst="rect">
            <a:avLst/>
          </a:prstGeom>
          <a:solidFill>
            <a:srgbClr val="2D5185"/>
          </a:solidFill>
          <a:ln w="12700">
            <a:solidFill>
              <a:srgbClr val="2D51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35204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90448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58968" y="3904488"/>
            <a:ext cx="658368" cy="347472"/>
          </a:xfrm>
          <a:prstGeom prst="rect">
            <a:avLst/>
          </a:prstGeom>
          <a:solidFill>
            <a:srgbClr val="F5820A">
              <a:alpha val="50000"/>
            </a:srgbClr>
          </a:solidFill>
          <a:ln w="12700">
            <a:solidFill>
              <a:srgbClr val="F5820A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53912" y="3904488"/>
            <a:ext cx="658368" cy="347472"/>
          </a:xfrm>
          <a:prstGeom prst="rect">
            <a:avLst/>
          </a:prstGeom>
          <a:solidFill>
            <a:srgbClr val="2D5185"/>
          </a:solidFill>
          <a:ln w="12700">
            <a:solidFill>
              <a:srgbClr val="2D51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39044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48856" y="3904488"/>
            <a:ext cx="6583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8856" y="39044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428853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58968" y="4288536"/>
            <a:ext cx="658368" cy="347472"/>
          </a:xfrm>
          <a:prstGeom prst="rect">
            <a:avLst/>
          </a:prstGeom>
          <a:solidFill>
            <a:srgbClr val="F5820A">
              <a:alpha val="25000"/>
            </a:srgbClr>
          </a:solidFill>
          <a:ln w="12700">
            <a:solidFill>
              <a:srgbClr val="F5820A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53912" y="4288536"/>
            <a:ext cx="658368" cy="347472"/>
          </a:xfrm>
          <a:prstGeom prst="rect">
            <a:avLst/>
          </a:prstGeom>
          <a:solidFill>
            <a:srgbClr val="2D5185">
              <a:alpha val="50000"/>
            </a:srgbClr>
          </a:solidFill>
          <a:ln w="12700">
            <a:solidFill>
              <a:srgbClr val="2D5185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8856" y="4288536"/>
            <a:ext cx="6583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8856" y="42885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4288536"/>
            <a:ext cx="658368" cy="347472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0408" y="2843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45352" y="2843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5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40296" y="2843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35240" y="2843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566160"/>
            <a:ext cx="2560320" cy="2560320"/>
          </a:xfrm>
          <a:prstGeom prst="ellipse">
            <a:avLst/>
          </a:prstGeom>
          <a:solidFill>
            <a:srgbClr val="F5820A">
              <a:alpha val="14000"/>
            </a:srgbClr>
          </a:solidFill>
          <a:ln w="12700">
            <a:solidFill>
              <a:srgbClr val="F5820A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731520"/>
            <a:ext cx="2286000" cy="2286000"/>
          </a:xfrm>
          <a:prstGeom prst="ellipse">
            <a:avLst/>
          </a:prstGeom>
          <a:solidFill>
            <a:srgbClr val="F5820A">
              <a:alpha val="18000"/>
            </a:srgbClr>
          </a:solidFill>
          <a:ln w="12700">
            <a:solidFill>
              <a:srgbClr val="F5820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para digitalizar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sua gestão de obras?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Construtivo AI está pronto para ser implantado na sua obra.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agendar uma demonstração?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3429000"/>
            <a:ext cx="3200400" cy="65836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34290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Demonstração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construtivo.ai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Construtivo AI – Apresentação Comercial</dc:title>
  <dc:subject>Gestão de Medições e Pagamentos de Obra</dc:subject>
  <dc:creator>PptxGenJS</dc:creator>
  <cp:lastModifiedBy>PptxGenJS</cp:lastModifiedBy>
  <cp:revision>1</cp:revision>
  <dcterms:created xsi:type="dcterms:W3CDTF">2026-04-24T00:26:01Z</dcterms:created>
  <dcterms:modified xsi:type="dcterms:W3CDTF">2026-04-24T00:26:01Z</dcterms:modified>
</cp:coreProperties>
</file>